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0" r:id="rId2"/>
  </p:sldIdLst>
  <p:sldSz cx="20108863" cy="15081250"/>
  <p:notesSz cx="20104100" cy="150812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1111"/>
    <a:srgbClr val="0025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1548" y="-258"/>
      </p:cViewPr>
      <p:guideLst>
        <p:guide orient="horz" pos="2880"/>
        <p:guide pos="216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755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755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DA8D00-555D-4C6C-AE1F-80A245501A66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885950"/>
            <a:ext cx="6784975" cy="508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7258050"/>
            <a:ext cx="16084550" cy="59388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4325600"/>
            <a:ext cx="8712200" cy="755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4325600"/>
            <a:ext cx="8712200" cy="755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5266B1-C8FE-464F-882A-EB9543395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895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266B1-C8FE-464F-882A-EB95433951A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73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8164" y="4675187"/>
            <a:ext cx="1709253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6330" y="8445500"/>
            <a:ext cx="1407620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443" y="3468688"/>
            <a:ext cx="874735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6064" y="3468688"/>
            <a:ext cx="874735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443" y="603250"/>
            <a:ext cx="1809797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443" y="3468688"/>
            <a:ext cx="1809797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7014" y="14025563"/>
            <a:ext cx="643483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444" y="14025563"/>
            <a:ext cx="46250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8383" y="14025563"/>
            <a:ext cx="46250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73931-4C2A-BA55-5F68-B356C813C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E090C3-55F0-A8AD-571B-0E8BB2ECCB1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34084" y="73025"/>
            <a:ext cx="19669923" cy="1645920"/>
          </a:xfrm>
          <a:prstGeom prst="rect">
            <a:avLst/>
          </a:prstGeom>
        </p:spPr>
      </p:pic>
      <p:pic>
        <p:nvPicPr>
          <p:cNvPr id="4" name="object 15">
            <a:extLst>
              <a:ext uri="{FF2B5EF4-FFF2-40B4-BE49-F238E27FC236}">
                <a16:creationId xmlns:a16="http://schemas.microsoft.com/office/drawing/2014/main" id="{CC1CBD90-89E7-14B0-CCA6-2C4F1B0F654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6896" y="176620"/>
            <a:ext cx="4046194" cy="1278432"/>
          </a:xfrm>
          <a:prstGeom prst="rect">
            <a:avLst/>
          </a:prstGeom>
        </p:spPr>
      </p:pic>
      <p:pic>
        <p:nvPicPr>
          <p:cNvPr id="5" name="object 25">
            <a:extLst>
              <a:ext uri="{FF2B5EF4-FFF2-40B4-BE49-F238E27FC236}">
                <a16:creationId xmlns:a16="http://schemas.microsoft.com/office/drawing/2014/main" id="{37ADA7E1-8CC9-6102-DD56-141946F3661F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006839" y="332386"/>
            <a:ext cx="3556283" cy="1033540"/>
          </a:xfrm>
          <a:prstGeom prst="rect">
            <a:avLst/>
          </a:prstGeom>
        </p:spPr>
      </p:pic>
      <p:sp>
        <p:nvSpPr>
          <p:cNvPr id="6" name="object 2">
            <a:extLst>
              <a:ext uri="{FF2B5EF4-FFF2-40B4-BE49-F238E27FC236}">
                <a16:creationId xmlns:a16="http://schemas.microsoft.com/office/drawing/2014/main" id="{2EDB392A-F6B2-F0D1-D7ED-1836063CE564}"/>
              </a:ext>
            </a:extLst>
          </p:cNvPr>
          <p:cNvSpPr txBox="1"/>
          <p:nvPr/>
        </p:nvSpPr>
        <p:spPr>
          <a:xfrm>
            <a:off x="5634831" y="1368425"/>
            <a:ext cx="9448800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spcBef>
                <a:spcPts val="95"/>
              </a:spcBef>
            </a:pPr>
            <a:r>
              <a:rPr lang="en-US" sz="2500" i="1" dirty="0">
                <a:latin typeface="Times New Roman"/>
                <a:cs typeface="Times New Roman"/>
              </a:rPr>
              <a:t>Faysal Chowdhoury</a:t>
            </a:r>
            <a:r>
              <a:rPr lang="en-US" sz="2500" dirty="0">
                <a:latin typeface="Times New Roman"/>
                <a:cs typeface="Times New Roman"/>
              </a:rPr>
              <a:t>, </a:t>
            </a:r>
            <a:r>
              <a:rPr sz="2500" dirty="0">
                <a:latin typeface="Times New Roman"/>
                <a:cs typeface="Times New Roman"/>
              </a:rPr>
              <a:t>Advisor:</a:t>
            </a:r>
            <a:r>
              <a:rPr lang="en-US" sz="2500" spc="-7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Dr.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lang="en-US" sz="2500" dirty="0">
                <a:latin typeface="Times New Roman"/>
                <a:cs typeface="Times New Roman"/>
              </a:rPr>
              <a:t>K. Shankari and </a:t>
            </a:r>
            <a:r>
              <a:rPr lang="en-US" sz="2500" spc="-75" dirty="0">
                <a:latin typeface="Times New Roman"/>
                <a:cs typeface="Times New Roman"/>
              </a:rPr>
              <a:t>Dr. Mahyar </a:t>
            </a:r>
            <a:r>
              <a:rPr lang="en-US" sz="2500" spc="-75" dirty="0" err="1">
                <a:latin typeface="Times New Roman"/>
                <a:cs typeface="Times New Roman"/>
              </a:rPr>
              <a:t>Amirgholy</a:t>
            </a:r>
            <a:r>
              <a:rPr lang="en-US" sz="2500" spc="-75" dirty="0">
                <a:latin typeface="Times New Roman"/>
                <a:cs typeface="Times New Roman"/>
              </a:rPr>
              <a:t> </a:t>
            </a:r>
            <a:endParaRPr sz="2500" dirty="0">
              <a:latin typeface="Times New Roman"/>
              <a:cs typeface="Times New Roman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689EC1C9-5E55-1358-CDC2-ED67BEB73992}"/>
              </a:ext>
            </a:extLst>
          </p:cNvPr>
          <p:cNvSpPr txBox="1"/>
          <p:nvPr/>
        </p:nvSpPr>
        <p:spPr>
          <a:xfrm>
            <a:off x="4365250" y="156910"/>
            <a:ext cx="11520805" cy="1181862"/>
          </a:xfrm>
          <a:prstGeom prst="rect">
            <a:avLst/>
          </a:prstGeom>
          <a:solidFill>
            <a:srgbClr val="002551">
              <a:alpha val="94902"/>
            </a:srgbClr>
          </a:solidFill>
        </p:spPr>
        <p:txBody>
          <a:bodyPr vert="horz" wrap="square" lIns="0" tIns="73152" rIns="0" bIns="91440" rtlCol="0" anchor="ctr">
            <a:spAutoFit/>
          </a:bodyPr>
          <a:lstStyle/>
          <a:p>
            <a:pPr algn="ctr">
              <a:spcBef>
                <a:spcPts val="1775"/>
              </a:spcBef>
            </a:pPr>
            <a:r>
              <a:rPr lang="en-US" sz="3300" spc="-25" dirty="0">
                <a:solidFill>
                  <a:schemeClr val="bg1"/>
                </a:solidFill>
                <a:latin typeface="Times New Roman"/>
                <a:cs typeface="Times New Roman"/>
              </a:rPr>
              <a:t>Scalable Open-Source Machine Learning for Multimodal Travel Behavior Inference and Sustainable Mobility Program Evaluation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6850615-45FA-B378-27D3-D25582B8A5FC}"/>
              </a:ext>
            </a:extLst>
          </p:cNvPr>
          <p:cNvGrpSpPr/>
          <p:nvPr/>
        </p:nvGrpSpPr>
        <p:grpSpPr>
          <a:xfrm>
            <a:off x="264" y="0"/>
            <a:ext cx="20109491" cy="15082118"/>
            <a:chOff x="264" y="0"/>
            <a:chExt cx="20109491" cy="15082118"/>
          </a:xfrm>
        </p:grpSpPr>
        <p:pic>
          <p:nvPicPr>
            <p:cNvPr id="2" name="Picture 1" descr="a_high_resolution_academic_poster_infographic_la.png">
              <a:extLst>
                <a:ext uri="{FF2B5EF4-FFF2-40B4-BE49-F238E27FC236}">
                  <a16:creationId xmlns:a16="http://schemas.microsoft.com/office/drawing/2014/main" id="{FC0FC17A-40CE-E251-18CB-3B68F0F88A3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4" y="0"/>
              <a:ext cx="20109491" cy="15082118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514AAC5-2759-4A3E-0351-DB9B07D27D6C}"/>
                </a:ext>
              </a:extLst>
            </p:cNvPr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855031" y="12944729"/>
              <a:ext cx="4953000" cy="1207008"/>
            </a:xfrm>
            <a:prstGeom prst="rect">
              <a:avLst/>
            </a:prstGeom>
          </p:spPr>
        </p:pic>
      </p:grpSp>
      <p:pic>
        <p:nvPicPr>
          <p:cNvPr id="1026" name="Picture 2" descr="NLR OpenPATH - Apps on Google Play">
            <a:extLst>
              <a:ext uri="{FF2B5EF4-FFF2-40B4-BE49-F238E27FC236}">
                <a16:creationId xmlns:a16="http://schemas.microsoft.com/office/drawing/2014/main" id="{A717BFCC-DBB7-0A4D-7085-9821BAA4E0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31" r="24000"/>
          <a:stretch>
            <a:fillRect/>
          </a:stretch>
        </p:blipFill>
        <p:spPr bwMode="auto">
          <a:xfrm>
            <a:off x="4824843" y="5483225"/>
            <a:ext cx="1800588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BA0515B-22C8-1873-0D4C-60FA175E9732}"/>
              </a:ext>
            </a:extLst>
          </p:cNvPr>
          <p:cNvSpPr txBox="1"/>
          <p:nvPr/>
        </p:nvSpPr>
        <p:spPr>
          <a:xfrm>
            <a:off x="14931231" y="13209679"/>
            <a:ext cx="1469676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50" dirty="0">
                <a:solidFill>
                  <a:srgbClr val="111111"/>
                </a:solidFill>
                <a:latin typeface="Regular sans-serif"/>
              </a:rPr>
              <a:t>https://github.com/faysalchowdhoury/multimodal-travel-behavior-sustainable-mobility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33173C5-02D3-6D34-8E69-AA42A091806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04856" y="73025"/>
            <a:ext cx="19851551" cy="1798320"/>
          </a:xfrm>
          <a:prstGeom prst="rect">
            <a:avLst/>
          </a:prstGeom>
        </p:spPr>
      </p:pic>
      <p:pic>
        <p:nvPicPr>
          <p:cNvPr id="25" name="object 15">
            <a:extLst>
              <a:ext uri="{FF2B5EF4-FFF2-40B4-BE49-F238E27FC236}">
                <a16:creationId xmlns:a16="http://schemas.microsoft.com/office/drawing/2014/main" id="{AF3C8BD5-DDBD-90D6-9D1E-ECB447464A8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9296" y="329020"/>
            <a:ext cx="4046194" cy="1278432"/>
          </a:xfrm>
          <a:prstGeom prst="rect">
            <a:avLst/>
          </a:prstGeom>
        </p:spPr>
      </p:pic>
      <p:pic>
        <p:nvPicPr>
          <p:cNvPr id="26" name="object 25">
            <a:extLst>
              <a:ext uri="{FF2B5EF4-FFF2-40B4-BE49-F238E27FC236}">
                <a16:creationId xmlns:a16="http://schemas.microsoft.com/office/drawing/2014/main" id="{F3668553-CA5C-9EDD-E959-BE051F109D53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159239" y="484786"/>
            <a:ext cx="3556283" cy="1033540"/>
          </a:xfrm>
          <a:prstGeom prst="rect">
            <a:avLst/>
          </a:prstGeom>
        </p:spPr>
      </p:pic>
      <p:sp>
        <p:nvSpPr>
          <p:cNvPr id="27" name="object 3">
            <a:extLst>
              <a:ext uri="{FF2B5EF4-FFF2-40B4-BE49-F238E27FC236}">
                <a16:creationId xmlns:a16="http://schemas.microsoft.com/office/drawing/2014/main" id="{93FB4F52-B8BD-B432-5FF8-C54650C150BB}"/>
              </a:ext>
            </a:extLst>
          </p:cNvPr>
          <p:cNvSpPr txBox="1"/>
          <p:nvPr/>
        </p:nvSpPr>
        <p:spPr>
          <a:xfrm>
            <a:off x="4517650" y="324699"/>
            <a:ext cx="11520805" cy="1151084"/>
          </a:xfrm>
          <a:prstGeom prst="rect">
            <a:avLst/>
          </a:prstGeom>
          <a:solidFill>
            <a:srgbClr val="002551">
              <a:alpha val="94902"/>
            </a:srgbClr>
          </a:solidFill>
        </p:spPr>
        <p:txBody>
          <a:bodyPr vert="horz" wrap="square" lIns="0" tIns="73152" rIns="0" bIns="91440" rtlCol="0" anchor="ctr">
            <a:spAutoFit/>
          </a:bodyPr>
          <a:lstStyle/>
          <a:p>
            <a:pPr algn="ctr">
              <a:spcBef>
                <a:spcPts val="1775"/>
              </a:spcBef>
            </a:pPr>
            <a:r>
              <a:rPr lang="en-US" sz="3200" spc="-25" dirty="0">
                <a:solidFill>
                  <a:schemeClr val="bg1"/>
                </a:solidFill>
                <a:latin typeface="Regular sans-serif"/>
                <a:cs typeface="Times New Roman"/>
              </a:rPr>
              <a:t>Scalable Open-Source Machine Learning for Multimodal Travel Behavior Inference and Sustainable Mobility Program Evaluation</a:t>
            </a:r>
          </a:p>
        </p:txBody>
      </p:sp>
      <p:sp>
        <p:nvSpPr>
          <p:cNvPr id="28" name="object 2">
            <a:extLst>
              <a:ext uri="{FF2B5EF4-FFF2-40B4-BE49-F238E27FC236}">
                <a16:creationId xmlns:a16="http://schemas.microsoft.com/office/drawing/2014/main" id="{84FB5EFF-9D88-4722-5FDC-513F09878711}"/>
              </a:ext>
            </a:extLst>
          </p:cNvPr>
          <p:cNvSpPr txBox="1"/>
          <p:nvPr/>
        </p:nvSpPr>
        <p:spPr>
          <a:xfrm>
            <a:off x="6930231" y="1520825"/>
            <a:ext cx="7010400" cy="26609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spcBef>
                <a:spcPts val="95"/>
              </a:spcBef>
            </a:pPr>
            <a:r>
              <a:rPr lang="en-US" sz="1650" i="1" dirty="0">
                <a:latin typeface="Regular sans-serif"/>
                <a:cs typeface="Times New Roman"/>
              </a:rPr>
              <a:t>Faysal Chowdhoury, </a:t>
            </a:r>
            <a:r>
              <a:rPr sz="1650" dirty="0">
                <a:latin typeface="Regular sans-serif"/>
                <a:cs typeface="Times New Roman"/>
              </a:rPr>
              <a:t>Advisor:</a:t>
            </a:r>
            <a:r>
              <a:rPr lang="en-US" sz="1650" spc="-75" dirty="0">
                <a:latin typeface="Regular sans-serif"/>
                <a:cs typeface="Times New Roman"/>
              </a:rPr>
              <a:t> </a:t>
            </a:r>
            <a:r>
              <a:rPr sz="1650" spc="-10" dirty="0">
                <a:latin typeface="Regular sans-serif"/>
                <a:cs typeface="Times New Roman"/>
              </a:rPr>
              <a:t>Dr.</a:t>
            </a:r>
            <a:r>
              <a:rPr sz="1650" spc="-45" dirty="0">
                <a:latin typeface="Regular sans-serif"/>
                <a:cs typeface="Times New Roman"/>
              </a:rPr>
              <a:t> </a:t>
            </a:r>
            <a:r>
              <a:rPr lang="en-US" sz="1650" dirty="0">
                <a:latin typeface="Regular sans-serif"/>
                <a:cs typeface="Times New Roman"/>
              </a:rPr>
              <a:t>K. Shankari and </a:t>
            </a:r>
            <a:r>
              <a:rPr lang="en-US" sz="1650" spc="-75" dirty="0">
                <a:latin typeface="Regular sans-serif"/>
                <a:cs typeface="Times New Roman"/>
              </a:rPr>
              <a:t>Dr. Mahyar </a:t>
            </a:r>
            <a:r>
              <a:rPr lang="en-US" sz="1650" spc="-75" dirty="0" err="1">
                <a:latin typeface="Regular sans-serif"/>
                <a:cs typeface="Times New Roman"/>
              </a:rPr>
              <a:t>Amirgholy</a:t>
            </a:r>
            <a:r>
              <a:rPr lang="en-US" sz="1650" spc="-75" dirty="0">
                <a:latin typeface="Regular sans-serif"/>
                <a:cs typeface="Times New Roman"/>
              </a:rPr>
              <a:t> </a:t>
            </a:r>
            <a:endParaRPr sz="1650" dirty="0">
              <a:latin typeface="Regular sans-serif"/>
              <a:cs typeface="Times New Roman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4D79221-F5A5-499C-3862-97EC3F10B02E}"/>
              </a:ext>
            </a:extLst>
          </p:cNvPr>
          <p:cNvSpPr txBox="1"/>
          <p:nvPr/>
        </p:nvSpPr>
        <p:spPr>
          <a:xfrm>
            <a:off x="18441378" y="13255625"/>
            <a:ext cx="12825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rgbClr val="111111"/>
                </a:solidFill>
                <a:latin typeface="Regular sans-serif"/>
              </a:rPr>
              <a:t>Data Source:</a:t>
            </a:r>
          </a:p>
          <a:p>
            <a:pPr algn="ctr"/>
            <a:r>
              <a:rPr lang="en-US" sz="900" dirty="0">
                <a:solidFill>
                  <a:srgbClr val="111111"/>
                </a:solidFill>
                <a:latin typeface="Regular sans-serif"/>
              </a:rPr>
              <a:t>NLR </a:t>
            </a:r>
            <a:r>
              <a:rPr lang="en-US" sz="900" dirty="0" err="1">
                <a:solidFill>
                  <a:srgbClr val="111111"/>
                </a:solidFill>
                <a:latin typeface="Regular sans-serif"/>
              </a:rPr>
              <a:t>OpenPATH</a:t>
            </a:r>
            <a:r>
              <a:rPr lang="en-US" sz="900" dirty="0">
                <a:solidFill>
                  <a:srgbClr val="111111"/>
                </a:solidFill>
                <a:latin typeface="Regular sans-serif"/>
              </a:rPr>
              <a:t>- Open Platform for Agile Trip Heuristics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806E3B1-4FB5-0A4D-6A01-51C78F35C19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93896" y="13104749"/>
            <a:ext cx="886968" cy="88696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D4706FD-6891-D963-F6E8-E07639BF8D2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6502" y="13101574"/>
            <a:ext cx="896112" cy="89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816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</TotalTime>
  <Words>79</Words>
  <Application>Microsoft Office PowerPoint</Application>
  <PresentationFormat>Custom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Calibri</vt:lpstr>
      <vt:lpstr>Regular sans-serif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Stephen J. Kinzey, Ph.D.</dc:creator>
  <cp:lastModifiedBy>s m tanvir faysal alam Chowdhoury</cp:lastModifiedBy>
  <cp:revision>11</cp:revision>
  <dcterms:created xsi:type="dcterms:W3CDTF">2026-04-30T13:44:54Z</dcterms:created>
  <dcterms:modified xsi:type="dcterms:W3CDTF">2026-04-30T15:45:54Z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2025-11-25T00:00:00Z</vt:filetime>
  </property>
  <property fmtid="{D5CDD505-2E9C-101B-9397-08002B2CF9AE}" pid="3" name="Creator">
    <vt:lpwstr>Acrobat PDFMaker 25 for PowerPoint</vt:lpwstr>
  </property>
  <property fmtid="{D5CDD505-2E9C-101B-9397-08002B2CF9AE}" pid="4" name="LastSaved">
    <vt:filetime>2026-04-30T00:00:00Z</vt:filetime>
  </property>
  <property fmtid="{D5CDD505-2E9C-101B-9397-08002B2CF9AE}" pid="5" name="Producer">
    <vt:lpwstr>Adobe PDF Library 25.1.201</vt:lpwstr>
  </property>
</Properties>
</file>